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5D3"/>
    <a:srgbClr val="C999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9472-E188-8848-B745-DBE538A66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FD014-DFCC-FBDB-F188-E1B5333B1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CEEBA-DA6D-F5BE-F136-D733524E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D9DA7-D5AD-04A4-FD63-5DA48DB9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F2D79-60A6-AA6B-B590-1143A5B8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4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A819-BCF0-7410-C34F-9E0762C2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EBCB-1C52-6418-822E-AC547DC4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DB58-EEDF-781C-C5FB-A287092E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6F07-44B4-7619-9F2A-8C138D45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46DAA-06FA-0E18-4299-C90EE441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1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7A4C-64F7-0BA2-A74F-B7653F54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E3C5-4CF4-9BF2-6443-9DE3518D6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2857-D28C-2F63-57A5-055B75A3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F4F34-BFB1-EA3C-E4C8-5EE086AD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8B9A3-965E-E6D1-F0CF-407B09E2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0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38A7-3C05-397E-F753-13D1993A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914C-106A-73D1-D262-6CA8BF154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36DFF-BC0B-6AFD-700B-5AD2A83DB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EF78C-71BD-ABB1-AB77-AF25701D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C91A-FF1A-880C-2CE7-7C973D55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B78C-1EA9-C11A-0513-DD3497B4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9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47C5-D89B-9154-8D08-70E87241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92296-DEAC-1325-2CE6-A0E92B2F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34C44-1FC0-B3B6-EEFC-FFD4F892E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43661-DBD2-F182-AFC6-DD0588160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9204A-6510-6F45-975F-8CE334C7E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AD388-1316-7907-0D28-F1C2450A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982FA-99CC-9048-C4AD-755075C6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6AD67-AC85-374A-D366-842B5F0F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3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39D8-FBC5-40CE-C539-0C1486CE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18A1C-B496-AD0B-4B60-F6D854A8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7048D-173D-DFAC-ED8F-9A7AB0C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74D5A-2732-F027-E793-069B1529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62814-05A4-A4F2-130B-4AD69224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2660D-B2FC-56BB-16C5-613221A3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5EE5-592B-D034-BC52-54226915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2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145E-9A1C-8E36-BDF0-25F915AE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AEA5-BD75-A96E-BB4F-CDA0AF7B5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1A92E-9A34-A10C-D0ED-4D4F859D0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DDAF-D904-B64C-03C0-0089B46E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A5153-1836-454A-57F7-E2ED26D5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EB10-C740-E4F6-4667-E1891609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B281-1133-7DAB-90B1-1DCD669F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9F1C9-F6E1-BC40-BAE8-96F061A5B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6BA98-6EF6-26EF-135B-0AA75C357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2C467-0C04-8246-B444-D22B02CC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177BD-4A8E-59A6-9D70-9ABA328B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D712D-937E-A932-1A8C-6B3626DC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4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4D24-2DB1-CE52-D9BF-9116D97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42C4D-C307-0944-B98C-FC7C67565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9DE60-2718-97E1-A06A-B3F2B6F7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21A4-2B20-5620-7677-ED01633C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5F4F-1873-912C-0855-620C5B2E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4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90797-7E9A-C709-8583-5DC6140D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9F285-EA0C-48F1-4A41-8FF3A656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89DB-373A-8099-8006-D9AEA827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893EC-BAD1-E0A6-23A8-C2CFE3CA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185B-D8EC-C514-B558-5B29F5A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3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3E79E-9B17-A68C-CA47-B4E07F63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62AA-930A-D6F1-D5C5-C0C8CFCD9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AB53-E517-585D-1574-849190C99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5CD28-2C6B-FD45-AAA7-D57973071F1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BFC83-DC21-AA1A-E94B-A8462538B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3301C-1575-A9B1-4AA8-697136C83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3E7F137D-8443-F3C2-9E22-7B47FED68577}"/>
              </a:ext>
            </a:extLst>
          </p:cNvPr>
          <p:cNvGrpSpPr/>
          <p:nvPr/>
        </p:nvGrpSpPr>
        <p:grpSpPr>
          <a:xfrm>
            <a:off x="4929335" y="1389323"/>
            <a:ext cx="6120330" cy="3744491"/>
            <a:chOff x="446109" y="117571"/>
            <a:chExt cx="10706833" cy="655056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42C981-7A20-FAA4-A247-0950FCE10DF4}"/>
                </a:ext>
              </a:extLst>
            </p:cNvPr>
            <p:cNvSpPr/>
            <p:nvPr/>
          </p:nvSpPr>
          <p:spPr>
            <a:xfrm>
              <a:off x="6541092" y="4821621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0F6A06A-F738-AE26-82EE-1CA0E7BA5CC7}"/>
                </a:ext>
              </a:extLst>
            </p:cNvPr>
            <p:cNvSpPr/>
            <p:nvPr/>
          </p:nvSpPr>
          <p:spPr>
            <a:xfrm>
              <a:off x="6541092" y="2424568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DD226AE-0DD7-EB89-B099-5A16CE2B7E6C}"/>
                </a:ext>
              </a:extLst>
            </p:cNvPr>
            <p:cNvSpPr/>
            <p:nvPr/>
          </p:nvSpPr>
          <p:spPr>
            <a:xfrm>
              <a:off x="6541092" y="117571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9976C10-392A-B32B-0A93-3BBEF0F4FB90}"/>
                </a:ext>
              </a:extLst>
            </p:cNvPr>
            <p:cNvGrpSpPr/>
            <p:nvPr/>
          </p:nvGrpSpPr>
          <p:grpSpPr>
            <a:xfrm>
              <a:off x="446109" y="2520501"/>
              <a:ext cx="2009606" cy="1763110"/>
              <a:chOff x="2509842" y="2083675"/>
              <a:chExt cx="3111062" cy="269064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813F5C3-3B0F-3015-21F6-6046DA2DBAEF}"/>
                  </a:ext>
                </a:extLst>
              </p:cNvPr>
              <p:cNvSpPr/>
              <p:nvPr/>
            </p:nvSpPr>
            <p:spPr>
              <a:xfrm>
                <a:off x="2509842" y="2083675"/>
                <a:ext cx="3111062" cy="26906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429359-84A5-8493-FC1F-636D86909A6F}"/>
                  </a:ext>
                </a:extLst>
              </p:cNvPr>
              <p:cNvSpPr/>
              <p:nvPr/>
            </p:nvSpPr>
            <p:spPr>
              <a:xfrm>
                <a:off x="3323968" y="2520778"/>
                <a:ext cx="1482810" cy="1767017"/>
              </a:xfrm>
              <a:prstGeom prst="ellipse">
                <a:avLst/>
              </a:prstGeom>
              <a:solidFill>
                <a:srgbClr val="C999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92B7697-0368-1EA4-21B3-CD8535161887}"/>
                  </a:ext>
                </a:extLst>
              </p:cNvPr>
              <p:cNvGrpSpPr/>
              <p:nvPr/>
            </p:nvGrpSpPr>
            <p:grpSpPr>
              <a:xfrm>
                <a:off x="3878550" y="2984084"/>
                <a:ext cx="602457" cy="1100037"/>
                <a:chOff x="5055708" y="2614421"/>
                <a:chExt cx="602457" cy="1100037"/>
              </a:xfrm>
              <a:solidFill>
                <a:srgbClr val="00C5D3"/>
              </a:solidFill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EB1001-EA8C-58A7-BB9C-EEBE777601A4}"/>
                    </a:ext>
                  </a:extLst>
                </p:cNvPr>
                <p:cNvSpPr/>
                <p:nvPr/>
              </p:nvSpPr>
              <p:spPr>
                <a:xfrm rot="1998837">
                  <a:off x="5281782" y="2614421"/>
                  <a:ext cx="376383" cy="110003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2B8940A-A96E-8723-4831-E8CA0AF18758}"/>
                    </a:ext>
                  </a:extLst>
                </p:cNvPr>
                <p:cNvSpPr/>
                <p:nvPr/>
              </p:nvSpPr>
              <p:spPr>
                <a:xfrm rot="19460383">
                  <a:off x="5055708" y="2658761"/>
                  <a:ext cx="376383" cy="55882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85B70F-9C63-7F34-897C-39C8E09C43E1}"/>
                </a:ext>
              </a:extLst>
            </p:cNvPr>
            <p:cNvSpPr/>
            <p:nvPr/>
          </p:nvSpPr>
          <p:spPr>
            <a:xfrm>
              <a:off x="4123552" y="474416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417D7CF-59AD-6B52-878F-9593B355D607}"/>
                </a:ext>
              </a:extLst>
            </p:cNvPr>
            <p:cNvGrpSpPr/>
            <p:nvPr/>
          </p:nvGrpSpPr>
          <p:grpSpPr>
            <a:xfrm>
              <a:off x="4481787" y="778008"/>
              <a:ext cx="389160" cy="720825"/>
              <a:chOff x="5055708" y="2614421"/>
              <a:chExt cx="602457" cy="1100037"/>
            </a:xfrm>
            <a:solidFill>
              <a:srgbClr val="00C5D3"/>
            </a:solidFill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79BB1D5-1F60-6640-340B-73C919C67CFF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411AF38-C9B6-5047-2071-6A3D4EBC60A1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911253-7B5F-B338-DD98-973288B609A8}"/>
                </a:ext>
              </a:extLst>
            </p:cNvPr>
            <p:cNvSpPr/>
            <p:nvPr/>
          </p:nvSpPr>
          <p:spPr>
            <a:xfrm>
              <a:off x="4123552" y="2806923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7AFC92-BB55-A2C5-3C4E-5702860C2A9B}"/>
                </a:ext>
              </a:extLst>
            </p:cNvPr>
            <p:cNvGrpSpPr/>
            <p:nvPr/>
          </p:nvGrpSpPr>
          <p:grpSpPr>
            <a:xfrm>
              <a:off x="4481787" y="3110515"/>
              <a:ext cx="389160" cy="720825"/>
              <a:chOff x="5055708" y="2614421"/>
              <a:chExt cx="602457" cy="1100037"/>
            </a:xfrm>
            <a:solidFill>
              <a:schemeClr val="bg1"/>
            </a:solidFill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AC79833-F084-D2C5-9390-D56A6F754A09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78C7AB-D834-039B-5D85-8A16504F108E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78B77E3-D4FD-862F-27F7-27F094082BB1}"/>
                </a:ext>
              </a:extLst>
            </p:cNvPr>
            <p:cNvGrpSpPr/>
            <p:nvPr/>
          </p:nvGrpSpPr>
          <p:grpSpPr>
            <a:xfrm>
              <a:off x="4481787" y="5482058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2464591-66F8-3B02-720E-6AE8ADB5CA54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5933B53-BE7F-92C0-DD01-FD9F2FACB339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D65DD76-D05A-9720-BAB1-755F5E92868D}"/>
                </a:ext>
              </a:extLst>
            </p:cNvPr>
            <p:cNvSpPr/>
            <p:nvPr/>
          </p:nvSpPr>
          <p:spPr>
            <a:xfrm>
              <a:off x="6987621" y="461891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CCE41B7-8C73-C510-918E-C1E4414AA0D1}"/>
                </a:ext>
              </a:extLst>
            </p:cNvPr>
            <p:cNvGrpSpPr/>
            <p:nvPr/>
          </p:nvGrpSpPr>
          <p:grpSpPr>
            <a:xfrm>
              <a:off x="7345856" y="765483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DAC5F78-7993-A0E6-F1BC-F1DD21A5C85C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F3B089-D16A-DE4B-83E9-105337CEE83C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B7B1FE4-81A2-C6ED-92FD-34CAA871D1E0}"/>
                </a:ext>
              </a:extLst>
            </p:cNvPr>
            <p:cNvSpPr/>
            <p:nvPr/>
          </p:nvSpPr>
          <p:spPr>
            <a:xfrm>
              <a:off x="6987621" y="2794398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7E9CA61-74BE-A78F-668A-821EFE7E361C}"/>
                </a:ext>
              </a:extLst>
            </p:cNvPr>
            <p:cNvGrpSpPr/>
            <p:nvPr/>
          </p:nvGrpSpPr>
          <p:grpSpPr>
            <a:xfrm>
              <a:off x="7345856" y="3097990"/>
              <a:ext cx="389160" cy="720825"/>
              <a:chOff x="5055708" y="2614421"/>
              <a:chExt cx="602457" cy="110003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F0102CC-7F42-F30C-C7ED-F10ECFF1052E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09C2EFC-7D25-B46D-776E-31D4AE03B13D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29DB13F-C8D5-ADE6-2189-A04D8CFC5C66}"/>
                </a:ext>
              </a:extLst>
            </p:cNvPr>
            <p:cNvGrpSpPr/>
            <p:nvPr/>
          </p:nvGrpSpPr>
          <p:grpSpPr>
            <a:xfrm>
              <a:off x="7345856" y="5469533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9E6952E-A01F-4DF9-FE61-C83D214B71DA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4A064B6-FDAC-5BD9-47ED-32FA4BC9BF10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D52DC68A-8C70-900C-ED7D-6EEFF3BB8238}"/>
                </a:ext>
              </a:extLst>
            </p:cNvPr>
            <p:cNvSpPr/>
            <p:nvPr/>
          </p:nvSpPr>
          <p:spPr>
            <a:xfrm rot="19024054">
              <a:off x="2773029" y="197651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E0A52DAE-152D-4885-68A9-4B4D3E79B7C8}"/>
                </a:ext>
              </a:extLst>
            </p:cNvPr>
            <p:cNvSpPr/>
            <p:nvPr/>
          </p:nvSpPr>
          <p:spPr>
            <a:xfrm>
              <a:off x="2730005" y="3136927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ight Arrow 50">
              <a:extLst>
                <a:ext uri="{FF2B5EF4-FFF2-40B4-BE49-F238E27FC236}">
                  <a16:creationId xmlns:a16="http://schemas.microsoft.com/office/drawing/2014/main" id="{04F2F16A-2C75-2CDB-5D3E-28D730A2361F}"/>
                </a:ext>
              </a:extLst>
            </p:cNvPr>
            <p:cNvSpPr/>
            <p:nvPr/>
          </p:nvSpPr>
          <p:spPr>
            <a:xfrm rot="2649964">
              <a:off x="2658556" y="4397602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ight Arrow 51">
              <a:extLst>
                <a:ext uri="{FF2B5EF4-FFF2-40B4-BE49-F238E27FC236}">
                  <a16:creationId xmlns:a16="http://schemas.microsoft.com/office/drawing/2014/main" id="{AFC125EF-830F-F3F1-3A42-641C87E017B0}"/>
                </a:ext>
              </a:extLst>
            </p:cNvPr>
            <p:cNvSpPr/>
            <p:nvPr/>
          </p:nvSpPr>
          <p:spPr>
            <a:xfrm>
              <a:off x="5167433" y="86844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A2E0417B-DD78-7E18-DE16-C7E16472BB0C}"/>
                </a:ext>
              </a:extLst>
            </p:cNvPr>
            <p:cNvSpPr/>
            <p:nvPr/>
          </p:nvSpPr>
          <p:spPr>
            <a:xfrm>
              <a:off x="5167433" y="3138677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DC0B95A7-80E6-134A-76B0-6E2AF213ABDB}"/>
                </a:ext>
              </a:extLst>
            </p:cNvPr>
            <p:cNvSpPr/>
            <p:nvPr/>
          </p:nvSpPr>
          <p:spPr>
            <a:xfrm>
              <a:off x="5167433" y="561973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ight Arrow 54">
              <a:extLst>
                <a:ext uri="{FF2B5EF4-FFF2-40B4-BE49-F238E27FC236}">
                  <a16:creationId xmlns:a16="http://schemas.microsoft.com/office/drawing/2014/main" id="{0EE29763-0624-BB09-6974-105EEB94449E}"/>
                </a:ext>
              </a:extLst>
            </p:cNvPr>
            <p:cNvSpPr/>
            <p:nvPr/>
          </p:nvSpPr>
          <p:spPr>
            <a:xfrm>
              <a:off x="8586734" y="792715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ight Arrow 55">
              <a:extLst>
                <a:ext uri="{FF2B5EF4-FFF2-40B4-BE49-F238E27FC236}">
                  <a16:creationId xmlns:a16="http://schemas.microsoft.com/office/drawing/2014/main" id="{E93B256C-2CFF-F91B-4DEB-DB7D3E619A42}"/>
                </a:ext>
              </a:extLst>
            </p:cNvPr>
            <p:cNvSpPr/>
            <p:nvPr/>
          </p:nvSpPr>
          <p:spPr>
            <a:xfrm>
              <a:off x="8586734" y="3125222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ight Arrow 56">
              <a:extLst>
                <a:ext uri="{FF2B5EF4-FFF2-40B4-BE49-F238E27FC236}">
                  <a16:creationId xmlns:a16="http://schemas.microsoft.com/office/drawing/2014/main" id="{CF24EB5F-AD1E-D5C0-B7A8-0A858056021D}"/>
                </a:ext>
              </a:extLst>
            </p:cNvPr>
            <p:cNvSpPr/>
            <p:nvPr/>
          </p:nvSpPr>
          <p:spPr>
            <a:xfrm>
              <a:off x="8586734" y="5544005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1462C4-0F4E-6BED-BBCF-628EC568623B}"/>
                </a:ext>
              </a:extLst>
            </p:cNvPr>
            <p:cNvSpPr txBox="1"/>
            <p:nvPr/>
          </p:nvSpPr>
          <p:spPr>
            <a:xfrm>
              <a:off x="9851688" y="608049"/>
              <a:ext cx="1181094" cy="113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/>
                <a:t>E</a:t>
              </a:r>
              <a:r>
                <a:rPr lang="en-US" sz="3600" baseline="-25000" dirty="0" err="1"/>
                <a:t>c</a:t>
              </a:r>
              <a:endParaRPr lang="en-US" sz="3600" baseline="-250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145C1BA-7576-6EF6-5EB2-B45F30080FE3}"/>
                </a:ext>
              </a:extLst>
            </p:cNvPr>
            <p:cNvSpPr txBox="1"/>
            <p:nvPr/>
          </p:nvSpPr>
          <p:spPr>
            <a:xfrm>
              <a:off x="9851691" y="5371040"/>
              <a:ext cx="921513" cy="816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E</a:t>
              </a:r>
              <a:r>
                <a:rPr lang="en-US" sz="3600" baseline="-25000" dirty="0"/>
                <a:t>l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003F57-0904-9FB6-3236-EDFAAD53796B}"/>
                </a:ext>
              </a:extLst>
            </p:cNvPr>
            <p:cNvSpPr txBox="1"/>
            <p:nvPr/>
          </p:nvSpPr>
          <p:spPr>
            <a:xfrm>
              <a:off x="9851691" y="2986972"/>
              <a:ext cx="1301251" cy="113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E</a:t>
              </a:r>
              <a:r>
                <a:rPr lang="en-US" sz="3600" baseline="-25000" dirty="0"/>
                <a:t>r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EB0A9C5-CE55-160E-89F1-57B6C028C9AA}"/>
              </a:ext>
            </a:extLst>
          </p:cNvPr>
          <p:cNvSpPr txBox="1"/>
          <p:nvPr/>
        </p:nvSpPr>
        <p:spPr>
          <a:xfrm>
            <a:off x="4493098" y="5352850"/>
            <a:ext cx="24844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Strip explicit water, separate into complex, receptor, and ligand.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7DDB5A-A6A0-2AB0-6B3D-FEF08AA9CADB}"/>
              </a:ext>
            </a:extLst>
          </p:cNvPr>
          <p:cNvSpPr txBox="1"/>
          <p:nvPr/>
        </p:nvSpPr>
        <p:spPr>
          <a:xfrm>
            <a:off x="7164904" y="5352850"/>
            <a:ext cx="2141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Create simulation systems with implicit water.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0FAFFC-6D75-4464-BEB7-86D464FF5B47}"/>
              </a:ext>
            </a:extLst>
          </p:cNvPr>
          <p:cNvSpPr txBox="1"/>
          <p:nvPr/>
        </p:nvSpPr>
        <p:spPr>
          <a:xfrm>
            <a:off x="9553439" y="5352850"/>
            <a:ext cx="251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Calculate energies.</a:t>
            </a:r>
          </a:p>
          <a:p>
            <a:endParaRPr lang="en-US" sz="2000" dirty="0"/>
          </a:p>
          <a:p>
            <a:r>
              <a:rPr lang="en-US" sz="2000" dirty="0" err="1"/>
              <a:t>E</a:t>
            </a:r>
            <a:r>
              <a:rPr lang="en-US" sz="2000" baseline="-25000" dirty="0" err="1"/>
              <a:t>bind</a:t>
            </a:r>
            <a:r>
              <a:rPr lang="en-US" sz="2000" dirty="0"/>
              <a:t> = </a:t>
            </a:r>
            <a:r>
              <a:rPr lang="en-US" sz="2000" dirty="0" err="1"/>
              <a:t>E</a:t>
            </a:r>
            <a:r>
              <a:rPr lang="en-US" sz="2000" baseline="-25000" dirty="0" err="1"/>
              <a:t>c</a:t>
            </a:r>
            <a:r>
              <a:rPr lang="en-US" sz="2000" dirty="0"/>
              <a:t> – (E</a:t>
            </a:r>
            <a:r>
              <a:rPr lang="en-US" sz="2000" baseline="-25000" dirty="0"/>
              <a:t>r</a:t>
            </a:r>
            <a:r>
              <a:rPr lang="en-US" sz="2000" dirty="0"/>
              <a:t> + E</a:t>
            </a:r>
            <a:r>
              <a:rPr lang="en-US" sz="2000" baseline="-25000" dirty="0"/>
              <a:t>l</a:t>
            </a:r>
            <a:r>
              <a:rPr lang="en-US" sz="2000" dirty="0"/>
              <a:t>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357D729-7662-8EF3-E32A-A87DE1DF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3" y="1601935"/>
            <a:ext cx="3789424" cy="374449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BE11173-9CA6-29F1-9388-B1090EBD8C33}"/>
              </a:ext>
            </a:extLst>
          </p:cNvPr>
          <p:cNvSpPr txBox="1"/>
          <p:nvPr/>
        </p:nvSpPr>
        <p:spPr>
          <a:xfrm>
            <a:off x="894605" y="5337749"/>
            <a:ext cx="26219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Mcl-1 with bound ligand 5X3 (PDB code 5FDR)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4EE9EB-F2E0-FDB7-FC5E-1118637AD2A3}"/>
              </a:ext>
            </a:extLst>
          </p:cNvPr>
          <p:cNvSpPr txBox="1"/>
          <p:nvPr/>
        </p:nvSpPr>
        <p:spPr>
          <a:xfrm>
            <a:off x="346036" y="577596"/>
            <a:ext cx="418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MM-GBSA Workflow</a:t>
            </a:r>
          </a:p>
        </p:txBody>
      </p:sp>
    </p:spTree>
    <p:extLst>
      <p:ext uri="{BB962C8B-B14F-4D97-AF65-F5344CB8AC3E}">
        <p14:creationId xmlns:p14="http://schemas.microsoft.com/office/powerpoint/2010/main" val="39030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Laughton (staff)</dc:creator>
  <cp:lastModifiedBy>Charles Laughton (staff)</cp:lastModifiedBy>
  <cp:revision>2</cp:revision>
  <dcterms:created xsi:type="dcterms:W3CDTF">2025-10-28T13:37:52Z</dcterms:created>
  <dcterms:modified xsi:type="dcterms:W3CDTF">2025-10-28T14:06:34Z</dcterms:modified>
</cp:coreProperties>
</file>